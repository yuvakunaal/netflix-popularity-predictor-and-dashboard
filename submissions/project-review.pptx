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6" r:id="rId3"/>
    <p:sldId id="258" r:id="rId4"/>
    <p:sldId id="259" r:id="rId5"/>
    <p:sldId id="260" r:id="rId6"/>
    <p:sldId id="261" r:id="rId7"/>
    <p:sldId id="267" r:id="rId8"/>
    <p:sldId id="268" r:id="rId9"/>
    <p:sldId id="269" r:id="rId10"/>
    <p:sldId id="263" r:id="rId11"/>
    <p:sldId id="270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60"/>
    <p:restoredTop sz="94243"/>
  </p:normalViewPr>
  <p:slideViewPr>
    <p:cSldViewPr>
      <p:cViewPr varScale="1">
        <p:scale>
          <a:sx n="74" d="100"/>
          <a:sy n="74" d="100"/>
        </p:scale>
        <p:origin x="256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9739" y="1027882"/>
            <a:ext cx="7979984" cy="57157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66844" y="929767"/>
            <a:ext cx="3258311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50057" y="1796795"/>
            <a:ext cx="6692265" cy="4321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55156" y="3200400"/>
            <a:ext cx="7481570" cy="25128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 algn="ctr">
              <a:lnSpc>
                <a:spcPts val="2370"/>
              </a:lnSpc>
              <a:spcBef>
                <a:spcPts val="95"/>
              </a:spcBef>
            </a:pPr>
            <a:r>
              <a:rPr sz="2200" spc="-20" dirty="0">
                <a:latin typeface="Times New Roman"/>
                <a:cs typeface="Times New Roman"/>
              </a:rPr>
              <a:t>A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Presentation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Internship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Certification</a:t>
            </a:r>
            <a:endParaRPr sz="2200" dirty="0">
              <a:latin typeface="Times New Roman"/>
              <a:cs typeface="Times New Roman"/>
            </a:endParaRPr>
          </a:p>
          <a:p>
            <a:pPr algn="ctr">
              <a:lnSpc>
                <a:spcPts val="4530"/>
              </a:lnSpc>
            </a:pPr>
            <a:r>
              <a:rPr lang="en-IN" sz="4000" b="1" dirty="0">
                <a:latin typeface="Times New Roman"/>
                <a:cs typeface="Times New Roman"/>
              </a:rPr>
              <a:t> Data Science for Everyone</a:t>
            </a:r>
          </a:p>
          <a:p>
            <a:pPr algn="ctr"/>
            <a:endParaRPr lang="en-IN" sz="900" b="1" dirty="0">
              <a:latin typeface="Times New Roman"/>
              <a:cs typeface="Times New Roman"/>
            </a:endParaRPr>
          </a:p>
          <a:p>
            <a:pPr algn="ctr"/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endParaRPr lang="en-IN" sz="2400" spc="-15" dirty="0">
              <a:latin typeface="Times New Roman"/>
              <a:cs typeface="Times New Roman"/>
            </a:endParaRPr>
          </a:p>
          <a:p>
            <a:pPr algn="ctr"/>
            <a:r>
              <a:rPr lang="en-US" sz="2400" b="1" dirty="0">
                <a:latin typeface="Times New Roman"/>
                <a:cs typeface="Times New Roman"/>
              </a:rPr>
              <a:t>Boggavarapu Yuva Satya Kunaal </a:t>
            </a:r>
            <a:r>
              <a:rPr lang="en-US" sz="2400" dirty="0">
                <a:latin typeface="Times New Roman"/>
                <a:cs typeface="Times New Roman"/>
              </a:rPr>
              <a:t>(160122771031)</a:t>
            </a:r>
            <a:endParaRPr lang="en-IN" sz="2400" spc="-150" dirty="0">
              <a:latin typeface="Times New Roman"/>
              <a:cs typeface="Times New Roman"/>
            </a:endParaRPr>
          </a:p>
          <a:p>
            <a:pPr algn="ctr"/>
            <a:r>
              <a:rPr sz="2400" dirty="0">
                <a:latin typeface="Times New Roman"/>
                <a:cs typeface="Times New Roman"/>
              </a:rPr>
              <a:t>AI</a:t>
            </a:r>
            <a:r>
              <a:rPr lang="en-IN" sz="2400" dirty="0">
                <a:latin typeface="Times New Roman"/>
                <a:cs typeface="Times New Roman"/>
              </a:rPr>
              <a:t>&amp;</a:t>
            </a:r>
            <a:r>
              <a:rPr sz="2400" dirty="0">
                <a:latin typeface="Times New Roman"/>
                <a:cs typeface="Times New Roman"/>
              </a:rPr>
              <a:t>DS</a:t>
            </a:r>
            <a:r>
              <a:rPr lang="en-IN" sz="2400" dirty="0">
                <a:latin typeface="Times New Roman"/>
                <a:cs typeface="Times New Roman"/>
              </a:rPr>
              <a:t> –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I1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endParaRPr lang="en-IN" sz="2400" spc="-30" dirty="0">
              <a:latin typeface="Times New Roman"/>
              <a:cs typeface="Times New Roman"/>
            </a:endParaRPr>
          </a:p>
          <a:p>
            <a:pPr algn="ctr"/>
            <a:r>
              <a:rPr sz="2400" spc="-25" dirty="0">
                <a:latin typeface="Times New Roman"/>
                <a:cs typeface="Times New Roman"/>
              </a:rPr>
              <a:t>VII</a:t>
            </a:r>
            <a:r>
              <a:rPr lang="en-IN" sz="2400" spc="-25" dirty="0">
                <a:latin typeface="Times New Roman"/>
                <a:cs typeface="Times New Roman"/>
              </a:rPr>
              <a:t> SEM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25748" y="2286000"/>
            <a:ext cx="5540503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Times New Roman"/>
                <a:cs typeface="Times New Roman"/>
              </a:rPr>
              <a:t>DEPARTMENT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OF</a:t>
            </a:r>
            <a:r>
              <a:rPr sz="1200" b="1" spc="-9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ARTIFICIAL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INTELLIGENCE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30" dirty="0">
                <a:latin typeface="Times New Roman"/>
                <a:cs typeface="Times New Roman"/>
              </a:rPr>
              <a:t> </a:t>
            </a:r>
            <a:r>
              <a:rPr sz="1200" b="1" spc="-45" dirty="0">
                <a:latin typeface="Times New Roman"/>
                <a:cs typeface="Times New Roman"/>
              </a:rPr>
              <a:t>DATA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SCIENCE</a:t>
            </a:r>
            <a:endParaRPr sz="12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400" b="1" spc="-40" dirty="0">
                <a:latin typeface="Times New Roman"/>
                <a:cs typeface="Times New Roman"/>
              </a:rPr>
              <a:t>CHAITANYA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BHARATHI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INSTITUTE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9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6460" y="457200"/>
            <a:ext cx="1759079" cy="16873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B704FB0-DB34-2171-6318-2C919B9E4C4B}"/>
              </a:ext>
            </a:extLst>
          </p:cNvPr>
          <p:cNvSpPr txBox="1">
            <a:spLocks/>
          </p:cNvSpPr>
          <p:nvPr/>
        </p:nvSpPr>
        <p:spPr>
          <a:xfrm>
            <a:off x="533400" y="228600"/>
            <a:ext cx="50050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</a:t>
            </a:r>
            <a:r>
              <a:rPr lang="en-IN" sz="36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IN" sz="36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ertificate of completion&#10;&#10;AI-generated content may be incorrect.">
            <a:extLst>
              <a:ext uri="{FF2B5EF4-FFF2-40B4-BE49-F238E27FC236}">
                <a16:creationId xmlns:a16="http://schemas.microsoft.com/office/drawing/2014/main" id="{1E34EA1A-01AE-6388-CE9E-9F987FF29A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803275"/>
            <a:ext cx="8382000" cy="592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430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98372"/>
            <a:ext cx="4725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About</a:t>
            </a:r>
            <a:r>
              <a:rPr sz="3600" spc="-25" dirty="0"/>
              <a:t> </a:t>
            </a:r>
            <a:r>
              <a:rPr sz="3600" dirty="0"/>
              <a:t>the</a:t>
            </a:r>
            <a:r>
              <a:rPr sz="3600" spc="-25" dirty="0"/>
              <a:t> </a:t>
            </a:r>
            <a:r>
              <a:rPr sz="3600" spc="-10" dirty="0"/>
              <a:t>organizations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417823" y="1746884"/>
            <a:ext cx="8123555" cy="41916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436245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Times New Roman"/>
                <a:cs typeface="Times New Roman"/>
              </a:rPr>
              <a:t>Under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Ministry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Skill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Development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Entrepreneurship </a:t>
            </a:r>
            <a:r>
              <a:rPr sz="2400" dirty="0">
                <a:latin typeface="Times New Roman"/>
                <a:cs typeface="Times New Roman"/>
              </a:rPr>
              <a:t>(MSDE),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National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Skill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Development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Corporation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(NSDC),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dedicated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empowering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India's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comprehensive </a:t>
            </a:r>
            <a:r>
              <a:rPr sz="2400" dirty="0">
                <a:latin typeface="Times New Roman"/>
                <a:cs typeface="Times New Roman"/>
              </a:rPr>
              <a:t>skill</a:t>
            </a:r>
            <a:r>
              <a:rPr sz="2400" spc="-10" dirty="0">
                <a:latin typeface="Times New Roman"/>
                <a:cs typeface="Times New Roman"/>
              </a:rPr>
              <a:t> development.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93980">
              <a:lnSpc>
                <a:spcPts val="2590"/>
              </a:lnSpc>
            </a:pPr>
            <a:r>
              <a:rPr sz="2400" dirty="0">
                <a:latin typeface="Times New Roman"/>
                <a:cs typeface="Times New Roman"/>
              </a:rPr>
              <a:t>Reliance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Foundation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Skilling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Academy gives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10" dirty="0">
                <a:latin typeface="Times New Roman"/>
                <a:cs typeface="Times New Roman"/>
              </a:rPr>
              <a:t>competitive </a:t>
            </a:r>
            <a:r>
              <a:rPr sz="2400" dirty="0">
                <a:latin typeface="Times New Roman"/>
                <a:cs typeface="Times New Roman"/>
              </a:rPr>
              <a:t>edge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equipping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skills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most relevant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today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2590"/>
              </a:lnSpc>
            </a:pPr>
            <a:r>
              <a:rPr sz="2400" dirty="0">
                <a:latin typeface="Times New Roman"/>
                <a:cs typeface="Times New Roman"/>
              </a:rPr>
              <a:t>Skill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India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Digital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Hub 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online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training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platform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designed</a:t>
            </a:r>
            <a:r>
              <a:rPr sz="2400" spc="-25" dirty="0">
                <a:latin typeface="Times New Roman"/>
                <a:cs typeface="Times New Roman"/>
              </a:rPr>
              <a:t> and </a:t>
            </a:r>
            <a:r>
              <a:rPr sz="2400" dirty="0">
                <a:latin typeface="Times New Roman"/>
                <a:cs typeface="Times New Roman"/>
              </a:rPr>
              <a:t>developed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skill,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reskill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upskill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Indian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individuals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jobs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entrepreneurial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opportunities.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1187" y="2005973"/>
            <a:ext cx="966049" cy="91781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969761" y="3849002"/>
            <a:ext cx="17145" cy="382270"/>
          </a:xfrm>
          <a:custGeom>
            <a:avLst/>
            <a:gdLst/>
            <a:ahLst/>
            <a:cxnLst/>
            <a:rect l="l" t="t" r="r" b="b"/>
            <a:pathLst>
              <a:path w="17144" h="382270">
                <a:moveTo>
                  <a:pt x="17092" y="0"/>
                </a:moveTo>
                <a:lnTo>
                  <a:pt x="0" y="0"/>
                </a:lnTo>
                <a:lnTo>
                  <a:pt x="0" y="382127"/>
                </a:lnTo>
                <a:lnTo>
                  <a:pt x="17092" y="382127"/>
                </a:lnTo>
                <a:lnTo>
                  <a:pt x="17092" y="0"/>
                </a:lnTo>
                <a:close/>
              </a:path>
            </a:pathLst>
          </a:custGeom>
          <a:solidFill>
            <a:srgbClr val="A2854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653702" y="3812504"/>
            <a:ext cx="1196340" cy="436245"/>
            <a:chOff x="653702" y="3812504"/>
            <a:chExt cx="1196340" cy="43624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702" y="3812504"/>
              <a:ext cx="246119" cy="436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3926" y="4060161"/>
              <a:ext cx="912287" cy="13453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3247" y="3851155"/>
              <a:ext cx="916682" cy="179231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2129194" y="3882943"/>
            <a:ext cx="916940" cy="122555"/>
            <a:chOff x="2129194" y="3882943"/>
            <a:chExt cx="916940" cy="12255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29194" y="3883107"/>
              <a:ext cx="91849" cy="12199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57483" y="3884948"/>
              <a:ext cx="115958" cy="11804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398261" y="3884948"/>
              <a:ext cx="31750" cy="118110"/>
            </a:xfrm>
            <a:custGeom>
              <a:avLst/>
              <a:gdLst/>
              <a:ahLst/>
              <a:cxnLst/>
              <a:rect l="l" t="t" r="r" b="b"/>
              <a:pathLst>
                <a:path w="31750" h="118110">
                  <a:moveTo>
                    <a:pt x="31187" y="0"/>
                  </a:moveTo>
                  <a:lnTo>
                    <a:pt x="0" y="0"/>
                  </a:lnTo>
                  <a:lnTo>
                    <a:pt x="0" y="118043"/>
                  </a:lnTo>
                  <a:lnTo>
                    <a:pt x="31187" y="118043"/>
                  </a:lnTo>
                  <a:lnTo>
                    <a:pt x="31187" y="0"/>
                  </a:lnTo>
                  <a:close/>
                </a:path>
              </a:pathLst>
            </a:custGeom>
            <a:solidFill>
              <a:srgbClr val="A28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71535" y="3884948"/>
              <a:ext cx="82364" cy="1180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85201" y="3884948"/>
              <a:ext cx="82285" cy="11804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699658" y="3884948"/>
              <a:ext cx="31750" cy="118110"/>
            </a:xfrm>
            <a:custGeom>
              <a:avLst/>
              <a:gdLst/>
              <a:ahLst/>
              <a:cxnLst/>
              <a:rect l="l" t="t" r="r" b="b"/>
              <a:pathLst>
                <a:path w="31750" h="118110">
                  <a:moveTo>
                    <a:pt x="31187" y="0"/>
                  </a:moveTo>
                  <a:lnTo>
                    <a:pt x="0" y="0"/>
                  </a:lnTo>
                  <a:lnTo>
                    <a:pt x="0" y="118043"/>
                  </a:lnTo>
                  <a:lnTo>
                    <a:pt x="31187" y="118043"/>
                  </a:lnTo>
                  <a:lnTo>
                    <a:pt x="31187" y="0"/>
                  </a:lnTo>
                  <a:close/>
                </a:path>
              </a:pathLst>
            </a:custGeom>
            <a:solidFill>
              <a:srgbClr val="A28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72932" y="3884948"/>
              <a:ext cx="121333" cy="11804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29599" y="3882943"/>
              <a:ext cx="116274" cy="122085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2119708" y="4055737"/>
            <a:ext cx="937894" cy="122555"/>
            <a:chOff x="2119708" y="4055737"/>
            <a:chExt cx="937894" cy="122555"/>
          </a:xfrm>
        </p:grpSpPr>
        <p:sp>
          <p:nvSpPr>
            <p:cNvPr id="20" name="object 20"/>
            <p:cNvSpPr/>
            <p:nvPr/>
          </p:nvSpPr>
          <p:spPr>
            <a:xfrm>
              <a:off x="2119706" y="4055744"/>
              <a:ext cx="531495" cy="122555"/>
            </a:xfrm>
            <a:custGeom>
              <a:avLst/>
              <a:gdLst/>
              <a:ahLst/>
              <a:cxnLst/>
              <a:rect l="l" t="t" r="r" b="b"/>
              <a:pathLst>
                <a:path w="531494" h="122554">
                  <a:moveTo>
                    <a:pt x="134683" y="119951"/>
                  </a:moveTo>
                  <a:lnTo>
                    <a:pt x="125539" y="97028"/>
                  </a:lnTo>
                  <a:lnTo>
                    <a:pt x="117449" y="76771"/>
                  </a:lnTo>
                  <a:lnTo>
                    <a:pt x="99529" y="31877"/>
                  </a:lnTo>
                  <a:lnTo>
                    <a:pt x="87579" y="1917"/>
                  </a:lnTo>
                  <a:lnTo>
                    <a:pt x="86309" y="1917"/>
                  </a:lnTo>
                  <a:lnTo>
                    <a:pt x="86309" y="76771"/>
                  </a:lnTo>
                  <a:lnTo>
                    <a:pt x="50584" y="76771"/>
                  </a:lnTo>
                  <a:lnTo>
                    <a:pt x="69316" y="31877"/>
                  </a:lnTo>
                  <a:lnTo>
                    <a:pt x="86309" y="76771"/>
                  </a:lnTo>
                  <a:lnTo>
                    <a:pt x="86309" y="1917"/>
                  </a:lnTo>
                  <a:lnTo>
                    <a:pt x="52717" y="1917"/>
                  </a:lnTo>
                  <a:lnTo>
                    <a:pt x="0" y="119951"/>
                  </a:lnTo>
                  <a:lnTo>
                    <a:pt x="32169" y="119951"/>
                  </a:lnTo>
                  <a:lnTo>
                    <a:pt x="41884" y="97028"/>
                  </a:lnTo>
                  <a:lnTo>
                    <a:pt x="93980" y="97028"/>
                  </a:lnTo>
                  <a:lnTo>
                    <a:pt x="102590" y="119951"/>
                  </a:lnTo>
                  <a:lnTo>
                    <a:pt x="134683" y="119951"/>
                  </a:lnTo>
                  <a:close/>
                </a:path>
                <a:path w="531494" h="122554">
                  <a:moveTo>
                    <a:pt x="252780" y="110134"/>
                  </a:moveTo>
                  <a:lnTo>
                    <a:pt x="252704" y="82562"/>
                  </a:lnTo>
                  <a:lnTo>
                    <a:pt x="245503" y="87439"/>
                  </a:lnTo>
                  <a:lnTo>
                    <a:pt x="238163" y="91147"/>
                  </a:lnTo>
                  <a:lnTo>
                    <a:pt x="223608" y="96126"/>
                  </a:lnTo>
                  <a:lnTo>
                    <a:pt x="216268" y="97396"/>
                  </a:lnTo>
                  <a:lnTo>
                    <a:pt x="209067" y="97396"/>
                  </a:lnTo>
                  <a:lnTo>
                    <a:pt x="174574" y="76136"/>
                  </a:lnTo>
                  <a:lnTo>
                    <a:pt x="172072" y="61137"/>
                  </a:lnTo>
                  <a:lnTo>
                    <a:pt x="172732" y="53073"/>
                  </a:lnTo>
                  <a:lnTo>
                    <a:pt x="202704" y="25285"/>
                  </a:lnTo>
                  <a:lnTo>
                    <a:pt x="211366" y="24688"/>
                  </a:lnTo>
                  <a:lnTo>
                    <a:pt x="218084" y="24688"/>
                  </a:lnTo>
                  <a:lnTo>
                    <a:pt x="224802" y="25717"/>
                  </a:lnTo>
                  <a:lnTo>
                    <a:pt x="238315" y="29908"/>
                  </a:lnTo>
                  <a:lnTo>
                    <a:pt x="245033" y="33083"/>
                  </a:lnTo>
                  <a:lnTo>
                    <a:pt x="251752" y="37274"/>
                  </a:lnTo>
                  <a:lnTo>
                    <a:pt x="251752" y="9613"/>
                  </a:lnTo>
                  <a:lnTo>
                    <a:pt x="244881" y="6337"/>
                  </a:lnTo>
                  <a:lnTo>
                    <a:pt x="237921" y="3898"/>
                  </a:lnTo>
                  <a:lnTo>
                    <a:pt x="223926" y="774"/>
                  </a:lnTo>
                  <a:lnTo>
                    <a:pt x="216738" y="0"/>
                  </a:lnTo>
                  <a:lnTo>
                    <a:pt x="209384" y="0"/>
                  </a:lnTo>
                  <a:lnTo>
                    <a:pt x="169913" y="9461"/>
                  </a:lnTo>
                  <a:lnTo>
                    <a:pt x="142100" y="48044"/>
                  </a:lnTo>
                  <a:lnTo>
                    <a:pt x="140931" y="61137"/>
                  </a:lnTo>
                  <a:lnTo>
                    <a:pt x="140931" y="69824"/>
                  </a:lnTo>
                  <a:lnTo>
                    <a:pt x="165671" y="110959"/>
                  </a:lnTo>
                  <a:lnTo>
                    <a:pt x="206540" y="122135"/>
                  </a:lnTo>
                  <a:lnTo>
                    <a:pt x="214922" y="122135"/>
                  </a:lnTo>
                  <a:lnTo>
                    <a:pt x="222897" y="121107"/>
                  </a:lnTo>
                  <a:lnTo>
                    <a:pt x="238074" y="117208"/>
                  </a:lnTo>
                  <a:lnTo>
                    <a:pt x="245503" y="114185"/>
                  </a:lnTo>
                  <a:lnTo>
                    <a:pt x="252780" y="110134"/>
                  </a:lnTo>
                  <a:close/>
                </a:path>
                <a:path w="531494" h="122554">
                  <a:moveTo>
                    <a:pt x="397116" y="119951"/>
                  </a:moveTo>
                  <a:lnTo>
                    <a:pt x="387959" y="97028"/>
                  </a:lnTo>
                  <a:lnTo>
                    <a:pt x="379882" y="76771"/>
                  </a:lnTo>
                  <a:lnTo>
                    <a:pt x="361962" y="31877"/>
                  </a:lnTo>
                  <a:lnTo>
                    <a:pt x="349999" y="1917"/>
                  </a:lnTo>
                  <a:lnTo>
                    <a:pt x="348742" y="1917"/>
                  </a:lnTo>
                  <a:lnTo>
                    <a:pt x="348742" y="76771"/>
                  </a:lnTo>
                  <a:lnTo>
                    <a:pt x="313016" y="76771"/>
                  </a:lnTo>
                  <a:lnTo>
                    <a:pt x="331749" y="31877"/>
                  </a:lnTo>
                  <a:lnTo>
                    <a:pt x="348742" y="76771"/>
                  </a:lnTo>
                  <a:lnTo>
                    <a:pt x="348742" y="1917"/>
                  </a:lnTo>
                  <a:lnTo>
                    <a:pt x="315150" y="1917"/>
                  </a:lnTo>
                  <a:lnTo>
                    <a:pt x="262420" y="119951"/>
                  </a:lnTo>
                  <a:lnTo>
                    <a:pt x="294589" y="119951"/>
                  </a:lnTo>
                  <a:lnTo>
                    <a:pt x="304317" y="97028"/>
                  </a:lnTo>
                  <a:lnTo>
                    <a:pt x="356412" y="97028"/>
                  </a:lnTo>
                  <a:lnTo>
                    <a:pt x="365023" y="119951"/>
                  </a:lnTo>
                  <a:lnTo>
                    <a:pt x="397116" y="119951"/>
                  </a:lnTo>
                  <a:close/>
                </a:path>
                <a:path w="531494" h="122554">
                  <a:moveTo>
                    <a:pt x="531177" y="60909"/>
                  </a:moveTo>
                  <a:lnTo>
                    <a:pt x="519518" y="25819"/>
                  </a:lnTo>
                  <a:lnTo>
                    <a:pt x="517842" y="23609"/>
                  </a:lnTo>
                  <a:lnTo>
                    <a:pt x="513105" y="18719"/>
                  </a:lnTo>
                  <a:lnTo>
                    <a:pt x="507695" y="14262"/>
                  </a:lnTo>
                  <a:lnTo>
                    <a:pt x="501688" y="9867"/>
                  </a:lnTo>
                  <a:lnTo>
                    <a:pt x="500037" y="9080"/>
                  </a:lnTo>
                  <a:lnTo>
                    <a:pt x="500037" y="60909"/>
                  </a:lnTo>
                  <a:lnTo>
                    <a:pt x="499440" y="68326"/>
                  </a:lnTo>
                  <a:lnTo>
                    <a:pt x="472605" y="95478"/>
                  </a:lnTo>
                  <a:lnTo>
                    <a:pt x="465251" y="96088"/>
                  </a:lnTo>
                  <a:lnTo>
                    <a:pt x="442722" y="96088"/>
                  </a:lnTo>
                  <a:lnTo>
                    <a:pt x="442722" y="25819"/>
                  </a:lnTo>
                  <a:lnTo>
                    <a:pt x="465810" y="25819"/>
                  </a:lnTo>
                  <a:lnTo>
                    <a:pt x="494487" y="40703"/>
                  </a:lnTo>
                  <a:lnTo>
                    <a:pt x="494601" y="40843"/>
                  </a:lnTo>
                  <a:lnTo>
                    <a:pt x="497611" y="46824"/>
                  </a:lnTo>
                  <a:lnTo>
                    <a:pt x="499427" y="53505"/>
                  </a:lnTo>
                  <a:lnTo>
                    <a:pt x="500037" y="60909"/>
                  </a:lnTo>
                  <a:lnTo>
                    <a:pt x="500037" y="9080"/>
                  </a:lnTo>
                  <a:lnTo>
                    <a:pt x="457898" y="1917"/>
                  </a:lnTo>
                  <a:lnTo>
                    <a:pt x="412445" y="1917"/>
                  </a:lnTo>
                  <a:lnTo>
                    <a:pt x="412445" y="119951"/>
                  </a:lnTo>
                  <a:lnTo>
                    <a:pt x="457898" y="119951"/>
                  </a:lnTo>
                  <a:lnTo>
                    <a:pt x="497738" y="114249"/>
                  </a:lnTo>
                  <a:lnTo>
                    <a:pt x="519595" y="96088"/>
                  </a:lnTo>
                  <a:lnTo>
                    <a:pt x="519925" y="95719"/>
                  </a:lnTo>
                  <a:lnTo>
                    <a:pt x="523976" y="89560"/>
                  </a:lnTo>
                  <a:lnTo>
                    <a:pt x="527138" y="82943"/>
                  </a:lnTo>
                  <a:lnTo>
                    <a:pt x="529386" y="75971"/>
                  </a:lnTo>
                  <a:lnTo>
                    <a:pt x="530733" y="68630"/>
                  </a:lnTo>
                  <a:lnTo>
                    <a:pt x="531177" y="60909"/>
                  </a:lnTo>
                  <a:close/>
                </a:path>
              </a:pathLst>
            </a:custGeom>
            <a:solidFill>
              <a:srgbClr val="A28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75866" y="4057656"/>
              <a:ext cx="82364" cy="11803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4552" y="4057656"/>
              <a:ext cx="272466" cy="118129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1481936" y="5134736"/>
            <a:ext cx="556895" cy="234950"/>
            <a:chOff x="1481936" y="5134736"/>
            <a:chExt cx="556895" cy="234950"/>
          </a:xfrm>
        </p:grpSpPr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81936" y="5163956"/>
              <a:ext cx="166438" cy="20519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676288" y="5166889"/>
              <a:ext cx="142875" cy="198755"/>
            </a:xfrm>
            <a:custGeom>
              <a:avLst/>
              <a:gdLst/>
              <a:ahLst/>
              <a:cxnLst/>
              <a:rect l="l" t="t" r="r" b="b"/>
              <a:pathLst>
                <a:path w="142875" h="198754">
                  <a:moveTo>
                    <a:pt x="38365" y="0"/>
                  </a:moveTo>
                  <a:lnTo>
                    <a:pt x="0" y="0"/>
                  </a:lnTo>
                  <a:lnTo>
                    <a:pt x="0" y="198690"/>
                  </a:lnTo>
                  <a:lnTo>
                    <a:pt x="38365" y="198690"/>
                  </a:lnTo>
                  <a:lnTo>
                    <a:pt x="38365" y="161753"/>
                  </a:lnTo>
                  <a:lnTo>
                    <a:pt x="55890" y="143354"/>
                  </a:lnTo>
                  <a:lnTo>
                    <a:pt x="94571" y="198690"/>
                  </a:lnTo>
                  <a:lnTo>
                    <a:pt x="142488" y="198690"/>
                  </a:lnTo>
                  <a:lnTo>
                    <a:pt x="83045" y="120054"/>
                  </a:lnTo>
                  <a:lnTo>
                    <a:pt x="140672" y="54877"/>
                  </a:lnTo>
                  <a:lnTo>
                    <a:pt x="93623" y="54877"/>
                  </a:lnTo>
                  <a:lnTo>
                    <a:pt x="38365" y="118770"/>
                  </a:lnTo>
                  <a:lnTo>
                    <a:pt x="38365" y="0"/>
                  </a:lnTo>
                  <a:close/>
                </a:path>
              </a:pathLst>
            </a:custGeom>
            <a:solidFill>
              <a:srgbClr val="1E25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28960" y="5187264"/>
              <a:ext cx="57150" cy="178435"/>
            </a:xfrm>
            <a:custGeom>
              <a:avLst/>
              <a:gdLst/>
              <a:ahLst/>
              <a:cxnLst/>
              <a:rect l="l" t="t" r="r" b="b"/>
              <a:pathLst>
                <a:path w="57150" h="178435">
                  <a:moveTo>
                    <a:pt x="28418" y="0"/>
                  </a:moveTo>
                  <a:lnTo>
                    <a:pt x="0" y="37832"/>
                  </a:lnTo>
                  <a:lnTo>
                    <a:pt x="9157" y="37832"/>
                  </a:lnTo>
                  <a:lnTo>
                    <a:pt x="9157" y="178347"/>
                  </a:lnTo>
                  <a:lnTo>
                    <a:pt x="47522" y="178347"/>
                  </a:lnTo>
                  <a:lnTo>
                    <a:pt x="47522" y="37832"/>
                  </a:lnTo>
                  <a:lnTo>
                    <a:pt x="56758" y="37832"/>
                  </a:lnTo>
                  <a:lnTo>
                    <a:pt x="28418" y="0"/>
                  </a:lnTo>
                  <a:close/>
                </a:path>
              </a:pathLst>
            </a:custGeom>
            <a:solidFill>
              <a:srgbClr val="EE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05453" y="5134736"/>
              <a:ext cx="57150" cy="231140"/>
            </a:xfrm>
            <a:custGeom>
              <a:avLst/>
              <a:gdLst/>
              <a:ahLst/>
              <a:cxnLst/>
              <a:rect l="l" t="t" r="r" b="b"/>
              <a:pathLst>
                <a:path w="57150" h="231139">
                  <a:moveTo>
                    <a:pt x="28339" y="0"/>
                  </a:moveTo>
                  <a:lnTo>
                    <a:pt x="0" y="38252"/>
                  </a:lnTo>
                  <a:lnTo>
                    <a:pt x="9157" y="38252"/>
                  </a:lnTo>
                  <a:lnTo>
                    <a:pt x="9157" y="230843"/>
                  </a:lnTo>
                  <a:lnTo>
                    <a:pt x="47601" y="230843"/>
                  </a:lnTo>
                  <a:lnTo>
                    <a:pt x="47601" y="38252"/>
                  </a:lnTo>
                  <a:lnTo>
                    <a:pt x="56758" y="38252"/>
                  </a:lnTo>
                  <a:lnTo>
                    <a:pt x="28339" y="0"/>
                  </a:lnTo>
                  <a:close/>
                </a:path>
              </a:pathLst>
            </a:custGeom>
            <a:solidFill>
              <a:srgbClr val="009C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81947" y="5134736"/>
              <a:ext cx="57150" cy="231140"/>
            </a:xfrm>
            <a:custGeom>
              <a:avLst/>
              <a:gdLst/>
              <a:ahLst/>
              <a:cxnLst/>
              <a:rect l="l" t="t" r="r" b="b"/>
              <a:pathLst>
                <a:path w="57150" h="231139">
                  <a:moveTo>
                    <a:pt x="28260" y="0"/>
                  </a:moveTo>
                  <a:lnTo>
                    <a:pt x="0" y="38252"/>
                  </a:lnTo>
                  <a:lnTo>
                    <a:pt x="9157" y="38252"/>
                  </a:lnTo>
                  <a:lnTo>
                    <a:pt x="9157" y="230843"/>
                  </a:lnTo>
                  <a:lnTo>
                    <a:pt x="47522" y="230843"/>
                  </a:lnTo>
                  <a:lnTo>
                    <a:pt x="47522" y="38252"/>
                  </a:lnTo>
                  <a:lnTo>
                    <a:pt x="56758" y="38252"/>
                  </a:lnTo>
                  <a:lnTo>
                    <a:pt x="28260" y="0"/>
                  </a:lnTo>
                  <a:close/>
                </a:path>
              </a:pathLst>
            </a:custGeom>
            <a:solidFill>
              <a:srgbClr val="1E25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2146065" y="5160658"/>
            <a:ext cx="636905" cy="208915"/>
            <a:chOff x="2146065" y="5160658"/>
            <a:chExt cx="636905" cy="208915"/>
          </a:xfrm>
        </p:grpSpPr>
        <p:sp>
          <p:nvSpPr>
            <p:cNvPr id="30" name="object 30"/>
            <p:cNvSpPr/>
            <p:nvPr/>
          </p:nvSpPr>
          <p:spPr>
            <a:xfrm>
              <a:off x="2146065" y="5166889"/>
              <a:ext cx="43180" cy="198755"/>
            </a:xfrm>
            <a:custGeom>
              <a:avLst/>
              <a:gdLst/>
              <a:ahLst/>
              <a:cxnLst/>
              <a:rect l="l" t="t" r="r" b="b"/>
              <a:pathLst>
                <a:path w="43180" h="198754">
                  <a:moveTo>
                    <a:pt x="42874" y="0"/>
                  </a:moveTo>
                  <a:lnTo>
                    <a:pt x="0" y="0"/>
                  </a:lnTo>
                  <a:lnTo>
                    <a:pt x="0" y="198690"/>
                  </a:lnTo>
                  <a:lnTo>
                    <a:pt x="42874" y="198690"/>
                  </a:lnTo>
                  <a:lnTo>
                    <a:pt x="42874" y="0"/>
                  </a:lnTo>
                  <a:close/>
                </a:path>
              </a:pathLst>
            </a:custGeom>
            <a:solidFill>
              <a:srgbClr val="1E25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28005" y="5218196"/>
              <a:ext cx="137120" cy="14739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93386" y="5167006"/>
              <a:ext cx="148250" cy="20226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576213" y="5160658"/>
              <a:ext cx="46355" cy="205104"/>
            </a:xfrm>
            <a:custGeom>
              <a:avLst/>
              <a:gdLst/>
              <a:ahLst/>
              <a:cxnLst/>
              <a:rect l="l" t="t" r="r" b="b"/>
              <a:pathLst>
                <a:path w="46355" h="205104">
                  <a:moveTo>
                    <a:pt x="42154" y="61077"/>
                  </a:moveTo>
                  <a:lnTo>
                    <a:pt x="3710" y="61077"/>
                  </a:lnTo>
                  <a:lnTo>
                    <a:pt x="3710" y="204883"/>
                  </a:lnTo>
                  <a:lnTo>
                    <a:pt x="42154" y="204883"/>
                  </a:lnTo>
                  <a:lnTo>
                    <a:pt x="42154" y="61077"/>
                  </a:lnTo>
                  <a:close/>
                </a:path>
                <a:path w="46355" h="205104">
                  <a:moveTo>
                    <a:pt x="23050" y="0"/>
                  </a:moveTo>
                  <a:lnTo>
                    <a:pt x="0" y="25789"/>
                  </a:lnTo>
                  <a:lnTo>
                    <a:pt x="631" y="28722"/>
                  </a:lnTo>
                  <a:lnTo>
                    <a:pt x="27313" y="45495"/>
                  </a:lnTo>
                  <a:lnTo>
                    <a:pt x="31734" y="44203"/>
                  </a:lnTo>
                  <a:lnTo>
                    <a:pt x="46259" y="23050"/>
                  </a:lnTo>
                  <a:lnTo>
                    <a:pt x="44522" y="14306"/>
                  </a:lnTo>
                  <a:lnTo>
                    <a:pt x="23050" y="0"/>
                  </a:lnTo>
                  <a:close/>
                </a:path>
              </a:pathLst>
            </a:custGeom>
            <a:solidFill>
              <a:srgbClr val="1E25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47496" y="5218094"/>
              <a:ext cx="135225" cy="151095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1483357" y="5431769"/>
            <a:ext cx="1304290" cy="179070"/>
            <a:chOff x="1483357" y="5431769"/>
            <a:chExt cx="1304290" cy="179070"/>
          </a:xfrm>
        </p:grpSpPr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83357" y="5431769"/>
              <a:ext cx="346628" cy="12886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859508" y="5468632"/>
              <a:ext cx="640080" cy="92075"/>
            </a:xfrm>
            <a:custGeom>
              <a:avLst/>
              <a:gdLst/>
              <a:ahLst/>
              <a:cxnLst/>
              <a:rect l="l" t="t" r="r" b="b"/>
              <a:pathLst>
                <a:path w="640080" h="92075">
                  <a:moveTo>
                    <a:pt x="258216" y="1270"/>
                  </a:moveTo>
                  <a:lnTo>
                    <a:pt x="172402" y="1270"/>
                  </a:lnTo>
                  <a:lnTo>
                    <a:pt x="172402" y="1397"/>
                  </a:lnTo>
                  <a:lnTo>
                    <a:pt x="124802" y="1397"/>
                  </a:lnTo>
                  <a:lnTo>
                    <a:pt x="115722" y="1397"/>
                  </a:lnTo>
                  <a:lnTo>
                    <a:pt x="78460" y="1397"/>
                  </a:lnTo>
                  <a:lnTo>
                    <a:pt x="44831" y="1447"/>
                  </a:lnTo>
                  <a:lnTo>
                    <a:pt x="44831" y="15278"/>
                  </a:lnTo>
                  <a:lnTo>
                    <a:pt x="55575" y="15278"/>
                  </a:lnTo>
                  <a:lnTo>
                    <a:pt x="55575" y="36639"/>
                  </a:lnTo>
                  <a:lnTo>
                    <a:pt x="34099" y="36639"/>
                  </a:lnTo>
                  <a:lnTo>
                    <a:pt x="34099" y="21120"/>
                  </a:lnTo>
                  <a:lnTo>
                    <a:pt x="31978" y="11061"/>
                  </a:lnTo>
                  <a:lnTo>
                    <a:pt x="26670" y="5016"/>
                  </a:lnTo>
                  <a:lnTo>
                    <a:pt x="19672" y="2057"/>
                  </a:lnTo>
                  <a:lnTo>
                    <a:pt x="12547" y="1270"/>
                  </a:lnTo>
                  <a:lnTo>
                    <a:pt x="0" y="1270"/>
                  </a:lnTo>
                  <a:lnTo>
                    <a:pt x="0" y="15278"/>
                  </a:lnTo>
                  <a:lnTo>
                    <a:pt x="13500" y="15278"/>
                  </a:lnTo>
                  <a:lnTo>
                    <a:pt x="15938" y="17119"/>
                  </a:lnTo>
                  <a:lnTo>
                    <a:pt x="15938" y="36969"/>
                  </a:lnTo>
                  <a:lnTo>
                    <a:pt x="5842" y="44424"/>
                  </a:lnTo>
                  <a:lnTo>
                    <a:pt x="5842" y="48653"/>
                  </a:lnTo>
                  <a:lnTo>
                    <a:pt x="6781" y="52844"/>
                  </a:lnTo>
                  <a:lnTo>
                    <a:pt x="10414" y="60515"/>
                  </a:lnTo>
                  <a:lnTo>
                    <a:pt x="13093" y="63906"/>
                  </a:lnTo>
                  <a:lnTo>
                    <a:pt x="16421" y="66611"/>
                  </a:lnTo>
                  <a:lnTo>
                    <a:pt x="33464" y="66611"/>
                  </a:lnTo>
                  <a:lnTo>
                    <a:pt x="33464" y="52857"/>
                  </a:lnTo>
                  <a:lnTo>
                    <a:pt x="55575" y="52857"/>
                  </a:lnTo>
                  <a:lnTo>
                    <a:pt x="55575" y="88519"/>
                  </a:lnTo>
                  <a:lnTo>
                    <a:pt x="73888" y="88519"/>
                  </a:lnTo>
                  <a:lnTo>
                    <a:pt x="73888" y="15443"/>
                  </a:lnTo>
                  <a:lnTo>
                    <a:pt x="87782" y="15443"/>
                  </a:lnTo>
                  <a:lnTo>
                    <a:pt x="92519" y="15392"/>
                  </a:lnTo>
                  <a:lnTo>
                    <a:pt x="92519" y="88468"/>
                  </a:lnTo>
                  <a:lnTo>
                    <a:pt x="111137" y="88468"/>
                  </a:lnTo>
                  <a:lnTo>
                    <a:pt x="111137" y="15392"/>
                  </a:lnTo>
                  <a:lnTo>
                    <a:pt x="115722" y="15392"/>
                  </a:lnTo>
                  <a:lnTo>
                    <a:pt x="124802" y="15392"/>
                  </a:lnTo>
                  <a:lnTo>
                    <a:pt x="150139" y="15392"/>
                  </a:lnTo>
                  <a:lnTo>
                    <a:pt x="150139" y="39852"/>
                  </a:lnTo>
                  <a:lnTo>
                    <a:pt x="147688" y="41414"/>
                  </a:lnTo>
                  <a:lnTo>
                    <a:pt x="140982" y="41414"/>
                  </a:lnTo>
                  <a:lnTo>
                    <a:pt x="138061" y="39268"/>
                  </a:lnTo>
                  <a:lnTo>
                    <a:pt x="134112" y="33591"/>
                  </a:lnTo>
                  <a:lnTo>
                    <a:pt x="120142" y="44170"/>
                  </a:lnTo>
                  <a:lnTo>
                    <a:pt x="158191" y="90525"/>
                  </a:lnTo>
                  <a:lnTo>
                    <a:pt x="173355" y="81140"/>
                  </a:lnTo>
                  <a:lnTo>
                    <a:pt x="157949" y="62826"/>
                  </a:lnTo>
                  <a:lnTo>
                    <a:pt x="154330" y="58978"/>
                  </a:lnTo>
                  <a:lnTo>
                    <a:pt x="150456" y="55410"/>
                  </a:lnTo>
                  <a:lnTo>
                    <a:pt x="150698" y="54711"/>
                  </a:lnTo>
                  <a:lnTo>
                    <a:pt x="151955" y="54508"/>
                  </a:lnTo>
                  <a:lnTo>
                    <a:pt x="154406" y="54394"/>
                  </a:lnTo>
                  <a:lnTo>
                    <a:pt x="156692" y="53809"/>
                  </a:lnTo>
                  <a:lnTo>
                    <a:pt x="168922" y="37782"/>
                  </a:lnTo>
                  <a:lnTo>
                    <a:pt x="168694" y="35445"/>
                  </a:lnTo>
                  <a:lnTo>
                    <a:pt x="168694" y="15392"/>
                  </a:lnTo>
                  <a:lnTo>
                    <a:pt x="181876" y="15392"/>
                  </a:lnTo>
                  <a:lnTo>
                    <a:pt x="225767" y="15278"/>
                  </a:lnTo>
                  <a:lnTo>
                    <a:pt x="225767" y="27127"/>
                  </a:lnTo>
                  <a:lnTo>
                    <a:pt x="209346" y="27127"/>
                  </a:lnTo>
                  <a:lnTo>
                    <a:pt x="199682" y="28524"/>
                  </a:lnTo>
                  <a:lnTo>
                    <a:pt x="190893" y="33032"/>
                  </a:lnTo>
                  <a:lnTo>
                    <a:pt x="184505" y="41097"/>
                  </a:lnTo>
                  <a:lnTo>
                    <a:pt x="182029" y="53187"/>
                  </a:lnTo>
                  <a:lnTo>
                    <a:pt x="182194" y="60566"/>
                  </a:lnTo>
                  <a:lnTo>
                    <a:pt x="184238" y="67779"/>
                  </a:lnTo>
                  <a:lnTo>
                    <a:pt x="191503" y="80683"/>
                  </a:lnTo>
                  <a:lnTo>
                    <a:pt x="196634" y="86169"/>
                  </a:lnTo>
                  <a:lnTo>
                    <a:pt x="202946" y="90246"/>
                  </a:lnTo>
                  <a:lnTo>
                    <a:pt x="216217" y="78549"/>
                  </a:lnTo>
                  <a:lnTo>
                    <a:pt x="211797" y="75984"/>
                  </a:lnTo>
                  <a:lnTo>
                    <a:pt x="208089" y="72390"/>
                  </a:lnTo>
                  <a:lnTo>
                    <a:pt x="202793" y="63766"/>
                  </a:lnTo>
                  <a:lnTo>
                    <a:pt x="201295" y="58877"/>
                  </a:lnTo>
                  <a:lnTo>
                    <a:pt x="200901" y="52349"/>
                  </a:lnTo>
                  <a:lnTo>
                    <a:pt x="201142" y="50825"/>
                  </a:lnTo>
                  <a:lnTo>
                    <a:pt x="210997" y="42583"/>
                  </a:lnTo>
                  <a:lnTo>
                    <a:pt x="212509" y="42735"/>
                  </a:lnTo>
                  <a:lnTo>
                    <a:pt x="225691" y="42735"/>
                  </a:lnTo>
                  <a:lnTo>
                    <a:pt x="225691" y="88353"/>
                  </a:lnTo>
                  <a:lnTo>
                    <a:pt x="244233" y="88353"/>
                  </a:lnTo>
                  <a:lnTo>
                    <a:pt x="244233" y="15278"/>
                  </a:lnTo>
                  <a:lnTo>
                    <a:pt x="258216" y="15278"/>
                  </a:lnTo>
                  <a:lnTo>
                    <a:pt x="258216" y="1270"/>
                  </a:lnTo>
                  <a:close/>
                </a:path>
                <a:path w="640080" h="92075">
                  <a:moveTo>
                    <a:pt x="443407" y="1587"/>
                  </a:moveTo>
                  <a:lnTo>
                    <a:pt x="335889" y="1587"/>
                  </a:lnTo>
                  <a:lnTo>
                    <a:pt x="335889" y="15582"/>
                  </a:lnTo>
                  <a:lnTo>
                    <a:pt x="377723" y="15582"/>
                  </a:lnTo>
                  <a:lnTo>
                    <a:pt x="377799" y="50038"/>
                  </a:lnTo>
                  <a:lnTo>
                    <a:pt x="365252" y="60566"/>
                  </a:lnTo>
                  <a:lnTo>
                    <a:pt x="363918" y="60375"/>
                  </a:lnTo>
                  <a:lnTo>
                    <a:pt x="356171" y="52019"/>
                  </a:lnTo>
                  <a:lnTo>
                    <a:pt x="356260" y="42913"/>
                  </a:lnTo>
                  <a:lnTo>
                    <a:pt x="362800" y="38709"/>
                  </a:lnTo>
                  <a:lnTo>
                    <a:pt x="371335" y="40741"/>
                  </a:lnTo>
                  <a:lnTo>
                    <a:pt x="368490" y="24968"/>
                  </a:lnTo>
                  <a:lnTo>
                    <a:pt x="337947" y="50368"/>
                  </a:lnTo>
                  <a:lnTo>
                    <a:pt x="337781" y="53657"/>
                  </a:lnTo>
                  <a:lnTo>
                    <a:pt x="338340" y="56946"/>
                  </a:lnTo>
                  <a:lnTo>
                    <a:pt x="359486" y="75603"/>
                  </a:lnTo>
                  <a:lnTo>
                    <a:pt x="368020" y="75590"/>
                  </a:lnTo>
                  <a:lnTo>
                    <a:pt x="373075" y="73875"/>
                  </a:lnTo>
                  <a:lnTo>
                    <a:pt x="377177" y="70662"/>
                  </a:lnTo>
                  <a:lnTo>
                    <a:pt x="377723" y="70662"/>
                  </a:lnTo>
                  <a:lnTo>
                    <a:pt x="377723" y="88455"/>
                  </a:lnTo>
                  <a:lnTo>
                    <a:pt x="396201" y="88455"/>
                  </a:lnTo>
                  <a:lnTo>
                    <a:pt x="396125" y="50253"/>
                  </a:lnTo>
                  <a:lnTo>
                    <a:pt x="396354" y="48742"/>
                  </a:lnTo>
                  <a:lnTo>
                    <a:pt x="405993" y="40093"/>
                  </a:lnTo>
                  <a:lnTo>
                    <a:pt x="407492" y="40157"/>
                  </a:lnTo>
                  <a:lnTo>
                    <a:pt x="408825" y="40081"/>
                  </a:lnTo>
                  <a:lnTo>
                    <a:pt x="417436" y="48425"/>
                  </a:lnTo>
                  <a:lnTo>
                    <a:pt x="417360" y="57480"/>
                  </a:lnTo>
                  <a:lnTo>
                    <a:pt x="411200" y="62064"/>
                  </a:lnTo>
                  <a:lnTo>
                    <a:pt x="402590" y="60159"/>
                  </a:lnTo>
                  <a:lnTo>
                    <a:pt x="405282" y="75895"/>
                  </a:lnTo>
                  <a:lnTo>
                    <a:pt x="435673" y="50152"/>
                  </a:lnTo>
                  <a:lnTo>
                    <a:pt x="435825" y="46926"/>
                  </a:lnTo>
                  <a:lnTo>
                    <a:pt x="435279" y="43688"/>
                  </a:lnTo>
                  <a:lnTo>
                    <a:pt x="405752" y="25361"/>
                  </a:lnTo>
                  <a:lnTo>
                    <a:pt x="400621" y="27190"/>
                  </a:lnTo>
                  <a:lnTo>
                    <a:pt x="396671" y="30607"/>
                  </a:lnTo>
                  <a:lnTo>
                    <a:pt x="396201" y="30607"/>
                  </a:lnTo>
                  <a:lnTo>
                    <a:pt x="396201" y="15582"/>
                  </a:lnTo>
                  <a:lnTo>
                    <a:pt x="443407" y="15582"/>
                  </a:lnTo>
                  <a:lnTo>
                    <a:pt x="443407" y="1587"/>
                  </a:lnTo>
                  <a:close/>
                </a:path>
                <a:path w="640080" h="92075">
                  <a:moveTo>
                    <a:pt x="500722" y="26377"/>
                  </a:moveTo>
                  <a:lnTo>
                    <a:pt x="472376" y="0"/>
                  </a:lnTo>
                  <a:lnTo>
                    <a:pt x="462584" y="1714"/>
                  </a:lnTo>
                  <a:lnTo>
                    <a:pt x="447636" y="25412"/>
                  </a:lnTo>
                  <a:lnTo>
                    <a:pt x="448856" y="29298"/>
                  </a:lnTo>
                  <a:lnTo>
                    <a:pt x="451294" y="32550"/>
                  </a:lnTo>
                  <a:lnTo>
                    <a:pt x="453821" y="35801"/>
                  </a:lnTo>
                  <a:lnTo>
                    <a:pt x="457377" y="38100"/>
                  </a:lnTo>
                  <a:lnTo>
                    <a:pt x="461403" y="39027"/>
                  </a:lnTo>
                  <a:lnTo>
                    <a:pt x="472452" y="28270"/>
                  </a:lnTo>
                  <a:lnTo>
                    <a:pt x="470712" y="27825"/>
                  </a:lnTo>
                  <a:lnTo>
                    <a:pt x="469138" y="26822"/>
                  </a:lnTo>
                  <a:lnTo>
                    <a:pt x="468033" y="25412"/>
                  </a:lnTo>
                  <a:lnTo>
                    <a:pt x="466852" y="24015"/>
                  </a:lnTo>
                  <a:lnTo>
                    <a:pt x="466217" y="22288"/>
                  </a:lnTo>
                  <a:lnTo>
                    <a:pt x="471436" y="14401"/>
                  </a:lnTo>
                  <a:lnTo>
                    <a:pt x="478218" y="14401"/>
                  </a:lnTo>
                  <a:lnTo>
                    <a:pt x="482168" y="18389"/>
                  </a:lnTo>
                  <a:lnTo>
                    <a:pt x="482079" y="26822"/>
                  </a:lnTo>
                  <a:lnTo>
                    <a:pt x="480783" y="33604"/>
                  </a:lnTo>
                  <a:lnTo>
                    <a:pt x="476897" y="39027"/>
                  </a:lnTo>
                  <a:lnTo>
                    <a:pt x="470903" y="42418"/>
                  </a:lnTo>
                  <a:lnTo>
                    <a:pt x="462813" y="43649"/>
                  </a:lnTo>
                  <a:lnTo>
                    <a:pt x="458482" y="43649"/>
                  </a:lnTo>
                  <a:lnTo>
                    <a:pt x="453821" y="42621"/>
                  </a:lnTo>
                  <a:lnTo>
                    <a:pt x="449643" y="40589"/>
                  </a:lnTo>
                  <a:lnTo>
                    <a:pt x="439216" y="54165"/>
                  </a:lnTo>
                  <a:lnTo>
                    <a:pt x="450354" y="62407"/>
                  </a:lnTo>
                  <a:lnTo>
                    <a:pt x="482561" y="92011"/>
                  </a:lnTo>
                  <a:lnTo>
                    <a:pt x="497954" y="81470"/>
                  </a:lnTo>
                  <a:lnTo>
                    <a:pt x="485800" y="70637"/>
                  </a:lnTo>
                  <a:lnTo>
                    <a:pt x="480580" y="65824"/>
                  </a:lnTo>
                  <a:lnTo>
                    <a:pt x="474751" y="61658"/>
                  </a:lnTo>
                  <a:lnTo>
                    <a:pt x="468426" y="58293"/>
                  </a:lnTo>
                  <a:lnTo>
                    <a:pt x="468426" y="57835"/>
                  </a:lnTo>
                  <a:lnTo>
                    <a:pt x="480034" y="55651"/>
                  </a:lnTo>
                  <a:lnTo>
                    <a:pt x="490410" y="49796"/>
                  </a:lnTo>
                  <a:lnTo>
                    <a:pt x="495122" y="43649"/>
                  </a:lnTo>
                  <a:lnTo>
                    <a:pt x="497852" y="40093"/>
                  </a:lnTo>
                  <a:lnTo>
                    <a:pt x="500621" y="26822"/>
                  </a:lnTo>
                  <a:lnTo>
                    <a:pt x="500722" y="26377"/>
                  </a:lnTo>
                  <a:close/>
                </a:path>
                <a:path w="640080" h="92075">
                  <a:moveTo>
                    <a:pt x="639965" y="1397"/>
                  </a:moveTo>
                  <a:lnTo>
                    <a:pt x="543902" y="1397"/>
                  </a:lnTo>
                  <a:lnTo>
                    <a:pt x="511606" y="1346"/>
                  </a:lnTo>
                  <a:lnTo>
                    <a:pt x="511606" y="88430"/>
                  </a:lnTo>
                  <a:lnTo>
                    <a:pt x="530237" y="88430"/>
                  </a:lnTo>
                  <a:lnTo>
                    <a:pt x="530237" y="15354"/>
                  </a:lnTo>
                  <a:lnTo>
                    <a:pt x="534898" y="15354"/>
                  </a:lnTo>
                  <a:lnTo>
                    <a:pt x="607288" y="15392"/>
                  </a:lnTo>
                  <a:lnTo>
                    <a:pt x="607288" y="28981"/>
                  </a:lnTo>
                  <a:lnTo>
                    <a:pt x="606894" y="28981"/>
                  </a:lnTo>
                  <a:lnTo>
                    <a:pt x="604126" y="26797"/>
                  </a:lnTo>
                  <a:lnTo>
                    <a:pt x="600659" y="25730"/>
                  </a:lnTo>
                  <a:lnTo>
                    <a:pt x="597179" y="25984"/>
                  </a:lnTo>
                  <a:lnTo>
                    <a:pt x="594182" y="25971"/>
                  </a:lnTo>
                  <a:lnTo>
                    <a:pt x="591261" y="27000"/>
                  </a:lnTo>
                  <a:lnTo>
                    <a:pt x="586689" y="30734"/>
                  </a:lnTo>
                  <a:lnTo>
                    <a:pt x="585177" y="33350"/>
                  </a:lnTo>
                  <a:lnTo>
                    <a:pt x="584631" y="36220"/>
                  </a:lnTo>
                  <a:lnTo>
                    <a:pt x="584073" y="36220"/>
                  </a:lnTo>
                  <a:lnTo>
                    <a:pt x="582663" y="33108"/>
                  </a:lnTo>
                  <a:lnTo>
                    <a:pt x="580288" y="30505"/>
                  </a:lnTo>
                  <a:lnTo>
                    <a:pt x="574294" y="27051"/>
                  </a:lnTo>
                  <a:lnTo>
                    <a:pt x="570814" y="26289"/>
                  </a:lnTo>
                  <a:lnTo>
                    <a:pt x="567347" y="26593"/>
                  </a:lnTo>
                  <a:lnTo>
                    <a:pt x="558444" y="28130"/>
                  </a:lnTo>
                  <a:lnTo>
                    <a:pt x="550570" y="32829"/>
                  </a:lnTo>
                  <a:lnTo>
                    <a:pt x="544944" y="40855"/>
                  </a:lnTo>
                  <a:lnTo>
                    <a:pt x="542798" y="52362"/>
                  </a:lnTo>
                  <a:lnTo>
                    <a:pt x="542950" y="60502"/>
                  </a:lnTo>
                  <a:lnTo>
                    <a:pt x="545477" y="68402"/>
                  </a:lnTo>
                  <a:lnTo>
                    <a:pt x="554469" y="82042"/>
                  </a:lnTo>
                  <a:lnTo>
                    <a:pt x="560793" y="87503"/>
                  </a:lnTo>
                  <a:lnTo>
                    <a:pt x="568286" y="90982"/>
                  </a:lnTo>
                  <a:lnTo>
                    <a:pt x="580136" y="79044"/>
                  </a:lnTo>
                  <a:lnTo>
                    <a:pt x="570941" y="72923"/>
                  </a:lnTo>
                  <a:lnTo>
                    <a:pt x="565124" y="66294"/>
                  </a:lnTo>
                  <a:lnTo>
                    <a:pt x="562063" y="59601"/>
                  </a:lnTo>
                  <a:lnTo>
                    <a:pt x="561187" y="53263"/>
                  </a:lnTo>
                  <a:lnTo>
                    <a:pt x="561187" y="44170"/>
                  </a:lnTo>
                  <a:lnTo>
                    <a:pt x="565531" y="41859"/>
                  </a:lnTo>
                  <a:lnTo>
                    <a:pt x="573493" y="41859"/>
                  </a:lnTo>
                  <a:lnTo>
                    <a:pt x="576414" y="45237"/>
                  </a:lnTo>
                  <a:lnTo>
                    <a:pt x="576414" y="64223"/>
                  </a:lnTo>
                  <a:lnTo>
                    <a:pt x="593471" y="64223"/>
                  </a:lnTo>
                  <a:lnTo>
                    <a:pt x="593471" y="45237"/>
                  </a:lnTo>
                  <a:lnTo>
                    <a:pt x="595757" y="41617"/>
                  </a:lnTo>
                  <a:lnTo>
                    <a:pt x="603338" y="41706"/>
                  </a:lnTo>
                  <a:lnTo>
                    <a:pt x="605548" y="42405"/>
                  </a:lnTo>
                  <a:lnTo>
                    <a:pt x="607288" y="43637"/>
                  </a:lnTo>
                  <a:lnTo>
                    <a:pt x="607288" y="88468"/>
                  </a:lnTo>
                  <a:lnTo>
                    <a:pt x="625995" y="88468"/>
                  </a:lnTo>
                  <a:lnTo>
                    <a:pt x="625995" y="15392"/>
                  </a:lnTo>
                  <a:lnTo>
                    <a:pt x="639965" y="15392"/>
                  </a:lnTo>
                  <a:lnTo>
                    <a:pt x="639965" y="1397"/>
                  </a:lnTo>
                  <a:close/>
                </a:path>
              </a:pathLst>
            </a:custGeom>
            <a:solidFill>
              <a:srgbClr val="43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525849" y="5469897"/>
              <a:ext cx="261372" cy="8926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135162" y="5506631"/>
              <a:ext cx="148590" cy="104775"/>
            </a:xfrm>
            <a:custGeom>
              <a:avLst/>
              <a:gdLst/>
              <a:ahLst/>
              <a:cxnLst/>
              <a:rect l="l" t="t" r="r" b="b"/>
              <a:pathLst>
                <a:path w="148589" h="104775">
                  <a:moveTo>
                    <a:pt x="36601" y="0"/>
                  </a:moveTo>
                  <a:lnTo>
                    <a:pt x="0" y="0"/>
                  </a:lnTo>
                  <a:lnTo>
                    <a:pt x="0" y="18237"/>
                  </a:lnTo>
                  <a:lnTo>
                    <a:pt x="36601" y="18237"/>
                  </a:lnTo>
                  <a:lnTo>
                    <a:pt x="36601" y="0"/>
                  </a:lnTo>
                  <a:close/>
                </a:path>
                <a:path w="148589" h="104775">
                  <a:moveTo>
                    <a:pt x="148259" y="80835"/>
                  </a:moveTo>
                  <a:lnTo>
                    <a:pt x="120154" y="59283"/>
                  </a:lnTo>
                  <a:lnTo>
                    <a:pt x="115811" y="59982"/>
                  </a:lnTo>
                  <a:lnTo>
                    <a:pt x="107988" y="63360"/>
                  </a:lnTo>
                  <a:lnTo>
                    <a:pt x="104521" y="65976"/>
                  </a:lnTo>
                  <a:lnTo>
                    <a:pt x="101841" y="69303"/>
                  </a:lnTo>
                  <a:lnTo>
                    <a:pt x="113919" y="79679"/>
                  </a:lnTo>
                  <a:lnTo>
                    <a:pt x="114782" y="78016"/>
                  </a:lnTo>
                  <a:lnTo>
                    <a:pt x="116039" y="76619"/>
                  </a:lnTo>
                  <a:lnTo>
                    <a:pt x="130098" y="80086"/>
                  </a:lnTo>
                  <a:lnTo>
                    <a:pt x="130098" y="87376"/>
                  </a:lnTo>
                  <a:lnTo>
                    <a:pt x="124409" y="89928"/>
                  </a:lnTo>
                  <a:lnTo>
                    <a:pt x="118414" y="89928"/>
                  </a:lnTo>
                  <a:lnTo>
                    <a:pt x="109296" y="88468"/>
                  </a:lnTo>
                  <a:lnTo>
                    <a:pt x="101130" y="84353"/>
                  </a:lnTo>
                  <a:lnTo>
                    <a:pt x="93827" y="77978"/>
                  </a:lnTo>
                  <a:lnTo>
                    <a:pt x="87236" y="69761"/>
                  </a:lnTo>
                  <a:lnTo>
                    <a:pt x="74282" y="81495"/>
                  </a:lnTo>
                  <a:lnTo>
                    <a:pt x="112229" y="103644"/>
                  </a:lnTo>
                  <a:lnTo>
                    <a:pt x="118656" y="104178"/>
                  </a:lnTo>
                  <a:lnTo>
                    <a:pt x="132295" y="102146"/>
                  </a:lnTo>
                  <a:lnTo>
                    <a:pt x="141452" y="96824"/>
                  </a:lnTo>
                  <a:lnTo>
                    <a:pt x="146621" y="89344"/>
                  </a:lnTo>
                  <a:lnTo>
                    <a:pt x="148259" y="80835"/>
                  </a:lnTo>
                  <a:close/>
                </a:path>
              </a:pathLst>
            </a:custGeom>
            <a:solidFill>
              <a:srgbClr val="43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0" name="object 4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83148" y="5119364"/>
            <a:ext cx="439390" cy="4758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3258311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dirty="0"/>
              <a:t>Course</a:t>
            </a:r>
            <a:r>
              <a:rPr spc="-114" dirty="0"/>
              <a:t> </a:t>
            </a:r>
            <a:r>
              <a:rPr spc="-10" dirty="0"/>
              <a:t>Layout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177705"/>
              </p:ext>
            </p:extLst>
          </p:nvPr>
        </p:nvGraphicFramePr>
        <p:xfrm>
          <a:off x="762000" y="1371600"/>
          <a:ext cx="10668000" cy="4912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4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3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6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Week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5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n-IN" sz="2000" b="1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Module 1: Data Science Fundamentals and Exploration</a:t>
                      </a:r>
                      <a:br>
                        <a:rPr lang="en-IN" sz="2000" dirty="0"/>
                      </a:br>
                      <a:r>
                        <a:rPr lang="en-IN" sz="20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IN" sz="2000" dirty="0"/>
                        <a:t>Course orientation &amp; Introduction to Data Science concepts </a:t>
                      </a:r>
                      <a:r>
                        <a:rPr lang="en-IN" sz="20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br>
                        <a:rPr lang="en-IN" sz="2000" dirty="0"/>
                      </a:br>
                      <a:r>
                        <a:rPr lang="en-IN" sz="20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IN" sz="2000" dirty="0"/>
                        <a:t>Mastered Python data analysis libraries: Pandas, NumPy, and Matplotlib.</a:t>
                      </a:r>
                      <a:br>
                        <a:rPr lang="en-IN" sz="2000" dirty="0"/>
                      </a:br>
                      <a:r>
                        <a:rPr lang="en-IN" sz="20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IN" sz="2000" dirty="0"/>
                        <a:t>Conducted Exploratory Data Analysis (EDA) on the Netflix dataset</a:t>
                      </a:r>
                      <a:r>
                        <a:rPr lang="en-IN" sz="20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13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2000" b="1" dirty="0">
                          <a:effectLst/>
                          <a:latin typeface="+mn-lt"/>
                        </a:rPr>
                        <a:t>Module 2: Advanced Preprocessing &amp; Certification</a:t>
                      </a:r>
                      <a:br>
                        <a:rPr lang="en-GB" sz="2000" b="0" dirty="0">
                          <a:effectLst/>
                          <a:latin typeface="+mn-lt"/>
                        </a:rPr>
                      </a:br>
                      <a:r>
                        <a:rPr lang="en-GB" sz="2000" b="0" dirty="0">
                          <a:effectLst/>
                          <a:latin typeface="+mn-lt"/>
                        </a:rPr>
                        <a:t>• </a:t>
                      </a:r>
                      <a:r>
                        <a:rPr lang="en-IN" sz="2000" dirty="0"/>
                        <a:t>Engineered 17 key features and handled missing data (Directors, Country)</a:t>
                      </a:r>
                      <a:r>
                        <a:rPr lang="en-GB" sz="2000" b="0" dirty="0">
                          <a:effectLst/>
                          <a:latin typeface="+mn-lt"/>
                        </a:rPr>
                        <a:t>.</a:t>
                      </a:r>
                      <a:br>
                        <a:rPr lang="en-GB" sz="2000" b="0" dirty="0">
                          <a:effectLst/>
                          <a:latin typeface="+mn-lt"/>
                        </a:rPr>
                      </a:br>
                      <a:r>
                        <a:rPr lang="en-GB" sz="2000" b="0" dirty="0">
                          <a:effectLst/>
                          <a:latin typeface="+mn-lt"/>
                        </a:rPr>
                        <a:t>• </a:t>
                      </a:r>
                      <a:r>
                        <a:rPr lang="en-IN" sz="2000" dirty="0"/>
                        <a:t>Built data transformation pipelines and mastered feature selection</a:t>
                      </a:r>
                      <a:r>
                        <a:rPr lang="en-GB" sz="2000" b="0" dirty="0"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121920" marT="76200" marB="7620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13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lang="en-IN" sz="2000" dirty="0">
                          <a:latin typeface="Calibri"/>
                          <a:cs typeface="Calibri"/>
                        </a:rPr>
                        <a:t>3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2000" b="1" dirty="0">
                          <a:effectLst/>
                          <a:latin typeface="+mn-lt"/>
                        </a:rPr>
                        <a:t>Module 3: Capstone Project: Model Development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2000" b="0" dirty="0">
                          <a:effectLst/>
                          <a:latin typeface="+mn-lt"/>
                        </a:rPr>
                        <a:t>• </a:t>
                      </a:r>
                      <a:r>
                        <a:rPr lang="en-IN" sz="2000" dirty="0"/>
                        <a:t>Implemented </a:t>
                      </a:r>
                      <a:r>
                        <a:rPr lang="en-IN" sz="2000" b="1" dirty="0"/>
                        <a:t>Random Forest Classifier</a:t>
                      </a:r>
                      <a:r>
                        <a:rPr lang="en-IN" sz="2000" dirty="0"/>
                        <a:t> for popularity prediction</a:t>
                      </a:r>
                      <a:r>
                        <a:rPr lang="en-GB" sz="2000" b="0" dirty="0">
                          <a:effectLst/>
                          <a:latin typeface="+mn-lt"/>
                        </a:rPr>
                        <a:t>.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2000" b="0" dirty="0">
                          <a:effectLst/>
                          <a:latin typeface="+mn-lt"/>
                        </a:rPr>
                        <a:t>• </a:t>
                      </a:r>
                      <a:r>
                        <a:rPr lang="en-IN" sz="2000" dirty="0"/>
                        <a:t>Conducted extensive hyperparameter tuning to achieve </a:t>
                      </a:r>
                      <a:r>
                        <a:rPr lang="en-IN" sz="2000" b="1" dirty="0"/>
                        <a:t>90.6% accuracy</a:t>
                      </a:r>
                      <a:r>
                        <a:rPr lang="en-GB" sz="2000" b="0" dirty="0">
                          <a:effectLst/>
                          <a:latin typeface="+mn-lt"/>
                        </a:rPr>
                        <a:t>.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2000" b="0" dirty="0">
                          <a:effectLst/>
                          <a:latin typeface="+mn-lt"/>
                        </a:rPr>
                        <a:t>• </a:t>
                      </a:r>
                      <a:r>
                        <a:rPr lang="en-IN" sz="2000" dirty="0"/>
                        <a:t>Evaluated model using ROC-AUC, F1-score, and Confusion Matrix</a:t>
                      </a:r>
                      <a:r>
                        <a:rPr lang="en-GB" sz="2000" b="0" dirty="0">
                          <a:effectLst/>
                          <a:latin typeface="+mn-lt"/>
                        </a:rPr>
                        <a:t>.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2000" b="0" dirty="0">
                          <a:effectLst/>
                          <a:latin typeface="+mn-lt"/>
                        </a:rPr>
                        <a:t>• </a:t>
                      </a:r>
                      <a:r>
                        <a:rPr lang="en-IN" sz="2000" b="0" dirty="0"/>
                        <a:t>Successfully completed the course and cleared the certification exam.</a:t>
                      </a:r>
                      <a:endParaRPr lang="en-GB" sz="2000" b="0" dirty="0">
                        <a:effectLst/>
                        <a:latin typeface="+mn-lt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01786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4502" y="4094943"/>
            <a:ext cx="38754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Course</a:t>
            </a:r>
            <a:r>
              <a:rPr spc="-125" dirty="0"/>
              <a:t> </a:t>
            </a:r>
            <a:r>
              <a:rPr spc="-10" dirty="0"/>
              <a:t>Outcomes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5005" y="4800600"/>
            <a:ext cx="10841990" cy="19236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Data Preprocessing &amp; Feature Engineering for real-world datasets using Pandas and NumPy.</a:t>
            </a: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Machine Learning Implementation using Random Forest Classifier achieving 90.6% accuracy.</a:t>
            </a: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Web Application. Development of predictive models using </a:t>
            </a:r>
            <a:r>
              <a:rPr lang="en-IN" sz="2000" dirty="0" err="1">
                <a:latin typeface="Times New Roman"/>
                <a:cs typeface="Times New Roman"/>
              </a:rPr>
              <a:t>FastAPI</a:t>
            </a:r>
            <a:r>
              <a:rPr lang="en-IN" sz="2000" dirty="0">
                <a:latin typeface="Times New Roman"/>
                <a:cs typeface="Times New Roman"/>
              </a:rPr>
              <a:t> backend and REST APIs.</a:t>
            </a: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Interactive Data Visualization and dashboard creating using </a:t>
            </a:r>
            <a:r>
              <a:rPr lang="en-IN" sz="2000" dirty="0" err="1">
                <a:latin typeface="Times New Roman"/>
                <a:cs typeface="Times New Roman"/>
              </a:rPr>
              <a:t>chart.js</a:t>
            </a:r>
            <a:r>
              <a:rPr lang="en-IN" sz="2000" dirty="0">
                <a:latin typeface="Times New Roman"/>
                <a:cs typeface="Times New Roman"/>
              </a:rPr>
              <a:t> for business intelligence.</a:t>
            </a: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Feature Importance Analysis to identify key popularity drives like Genres and Content Type.</a:t>
            </a: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Successfully passed the proctored certification exam.</a:t>
            </a:r>
            <a:endParaRPr sz="2000" dirty="0">
              <a:latin typeface="Times New Roman"/>
              <a:cs typeface="Times New Roman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5AE477B-8254-5FD5-D729-29AC2F9F6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037831"/>
              </p:ext>
            </p:extLst>
          </p:nvPr>
        </p:nvGraphicFramePr>
        <p:xfrm>
          <a:off x="762000" y="375892"/>
          <a:ext cx="10668000" cy="33288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4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3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6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Week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13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lang="en-IN" sz="20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2000" b="1" dirty="0">
                          <a:effectLst/>
                          <a:latin typeface="+mn-lt"/>
                        </a:rPr>
                        <a:t>Capstone Project Execution : Dashboard Development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2000" b="1" dirty="0">
                          <a:effectLst/>
                          <a:latin typeface="+mn-lt"/>
                        </a:rPr>
                        <a:t>• </a:t>
                      </a:r>
                      <a:r>
                        <a:rPr lang="en-IN" sz="2000" dirty="0"/>
                        <a:t>Developed </a:t>
                      </a:r>
                      <a:r>
                        <a:rPr lang="en-IN" sz="2000" b="1" dirty="0" err="1"/>
                        <a:t>FastAPI</a:t>
                      </a:r>
                      <a:r>
                        <a:rPr lang="en-IN" sz="2000" dirty="0"/>
                        <a:t> backend for real-time prediction endpoints.</a:t>
                      </a:r>
                      <a:endParaRPr lang="en-GB" sz="2000" b="0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2000" b="0" dirty="0">
                          <a:effectLst/>
                          <a:latin typeface="+mn-lt"/>
                        </a:rPr>
                        <a:t>• </a:t>
                      </a:r>
                      <a:r>
                        <a:rPr lang="en-IN" sz="2000" dirty="0"/>
                        <a:t>Created responsive frontend using HTML/CSS and </a:t>
                      </a:r>
                      <a:r>
                        <a:rPr lang="en-IN" sz="2000" b="1" dirty="0" err="1"/>
                        <a:t>Chart.js</a:t>
                      </a:r>
                      <a:r>
                        <a:rPr lang="en-IN" sz="2000" dirty="0"/>
                        <a:t> for analytics</a:t>
                      </a:r>
                      <a:r>
                        <a:rPr lang="en-GB" sz="2000" b="0" dirty="0">
                          <a:effectLst/>
                          <a:latin typeface="+mn-lt"/>
                        </a:rPr>
                        <a:t>.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2000" b="0" dirty="0">
                          <a:effectLst/>
                          <a:latin typeface="+mn-lt"/>
                        </a:rPr>
                        <a:t>• </a:t>
                      </a:r>
                      <a:r>
                        <a:rPr lang="en-IN" sz="2000" dirty="0"/>
                        <a:t>Integrated the trained ML model with the web interface</a:t>
                      </a:r>
                      <a:r>
                        <a:rPr lang="en-GB" sz="2000" b="0" dirty="0"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052141"/>
                  </a:ext>
                </a:extLst>
              </a:tr>
              <a:tr h="13413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lang="en-IN"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2000" b="1" dirty="0">
                          <a:effectLst/>
                          <a:latin typeface="+mn-lt"/>
                        </a:rPr>
                        <a:t>Project Closure &amp; Documentation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2000" b="1" dirty="0">
                          <a:effectLst/>
                          <a:latin typeface="+mn-lt"/>
                        </a:rPr>
                        <a:t>• </a:t>
                      </a:r>
                      <a:r>
                        <a:rPr lang="en-IN" sz="2000" dirty="0"/>
                        <a:t>Finalized system integration and optimized performance</a:t>
                      </a:r>
                      <a:r>
                        <a:rPr lang="en-GB" sz="2000" b="0" dirty="0">
                          <a:effectLst/>
                          <a:latin typeface="+mn-lt"/>
                        </a:rPr>
                        <a:t>. 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2000" b="0" dirty="0">
                          <a:effectLst/>
                          <a:latin typeface="+mn-lt"/>
                        </a:rPr>
                        <a:t>• </a:t>
                      </a:r>
                      <a:r>
                        <a:rPr lang="en-IN" sz="2000" dirty="0"/>
                        <a:t>Prepared comprehensive project documentation and technical specifications</a:t>
                      </a:r>
                      <a:r>
                        <a:rPr lang="en-GB" sz="2000" b="0" dirty="0">
                          <a:effectLst/>
                          <a:latin typeface="+mn-lt"/>
                        </a:rPr>
                        <a:t>.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2000" b="0" dirty="0">
                          <a:effectLst/>
                          <a:latin typeface="+mn-lt"/>
                        </a:rPr>
                        <a:t>• </a:t>
                      </a:r>
                      <a:r>
                        <a:rPr lang="en-IN" sz="2000" dirty="0"/>
                        <a:t>Completed final project deliverables and demonstration materials.</a:t>
                      </a:r>
                      <a:endParaRPr lang="en-GB" sz="2000" b="0" dirty="0">
                        <a:effectLst/>
                        <a:latin typeface="+mn-lt"/>
                      </a:endParaRPr>
                    </a:p>
                  </a:txBody>
                  <a:tcPr marL="12192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68642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546630"/>
            <a:ext cx="10173818" cy="539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IN" sz="3600" dirty="0"/>
              <a:t>Capstone Project: Netflix Popularity Predictor</a:t>
            </a:r>
            <a:endParaRPr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6A2227-7F04-D364-700B-73E6F0EAB0A6}"/>
              </a:ext>
            </a:extLst>
          </p:cNvPr>
          <p:cNvSpPr txBox="1"/>
          <p:nvPr/>
        </p:nvSpPr>
        <p:spPr>
          <a:xfrm>
            <a:off x="550606" y="1673391"/>
            <a:ext cx="7831394" cy="4126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065" marR="3324225" indent="-635" algn="l">
              <a:lnSpc>
                <a:spcPct val="100000"/>
              </a:lnSpc>
              <a:spcBef>
                <a:spcPts val="105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comprehensive business intelligence tool that predicts content popularity on Netflix, built by integrating a Machine Learning model with a responsive web dashboard for real-time analytics.</a:t>
            </a:r>
          </a:p>
          <a:p>
            <a:pPr marL="12065" marR="3324225" indent="-635" algn="l">
              <a:lnSpc>
                <a:spcPct val="100000"/>
              </a:lnSpc>
              <a:spcBef>
                <a:spcPts val="105"/>
              </a:spcBef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3324225" indent="-635" algn="l">
              <a:lnSpc>
                <a:spcPct val="100000"/>
              </a:lnSpc>
              <a:spcBef>
                <a:spcPts val="105"/>
              </a:spcBef>
            </a:pPr>
            <a:r>
              <a:rPr lang="en-IN" sz="2000" b="1" dirty="0">
                <a:latin typeface="Times New Roman"/>
                <a:cs typeface="Times New Roman"/>
              </a:rPr>
              <a:t>Key Integration:-</a:t>
            </a:r>
          </a:p>
          <a:p>
            <a:pPr marL="12065" marR="3324225" indent="-635" algn="l">
              <a:lnSpc>
                <a:spcPct val="100000"/>
              </a:lnSpc>
              <a:spcBef>
                <a:spcPts val="105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Scikit-learn, Random Forest Classifier (90.6% Accuracy).</a:t>
            </a:r>
          </a:p>
          <a:p>
            <a:pPr marL="12065" marR="3324225" indent="-635" algn="l">
              <a:lnSpc>
                <a:spcPct val="100000"/>
              </a:lnSpc>
              <a:spcBef>
                <a:spcPts val="105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Web-Framework: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(Python) for backend REST services.</a:t>
            </a:r>
          </a:p>
          <a:p>
            <a:pPr marL="12065" marR="3324225" indent="-635" algn="l">
              <a:lnSpc>
                <a:spcPct val="100000"/>
              </a:lnSpc>
              <a:spcBef>
                <a:spcPts val="105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Chart.js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dynamic feature impact analysis and analytics.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1DE436-D983-4141-3E69-B78C17830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905000"/>
            <a:ext cx="6692360" cy="38951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00919-7A6A-651A-B9EA-E2DF461C4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ACD3EE-C100-97CA-E1A8-93DD631E63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10173818" cy="539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IN" sz="3600" dirty="0"/>
              <a:t>Project Architecture &amp; Implementation</a:t>
            </a:r>
            <a:endParaRPr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C5B620-1E61-257F-0328-C624D11BBD32}"/>
              </a:ext>
            </a:extLst>
          </p:cNvPr>
          <p:cNvSpPr txBox="1"/>
          <p:nvPr/>
        </p:nvSpPr>
        <p:spPr>
          <a:xfrm>
            <a:off x="762000" y="1066800"/>
            <a:ext cx="12801600" cy="5574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065" marR="3324225" indent="-635" algn="l">
              <a:lnSpc>
                <a:spcPct val="100000"/>
              </a:lnSpc>
              <a:spcBef>
                <a:spcPts val="105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Stack:</a:t>
            </a:r>
          </a:p>
          <a:p>
            <a:pPr marL="354330" marR="3324225" indent="-342900" algn="l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 (Random Forest Classifier).</a:t>
            </a:r>
          </a:p>
          <a:p>
            <a:pPr marL="354330" marR="3324225" indent="-342900" algn="l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with REST API endpoints.</a:t>
            </a:r>
          </a:p>
          <a:p>
            <a:pPr marL="354330" marR="3324225" indent="-342900" algn="l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JavaScript,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Chart.js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visualization.</a:t>
            </a:r>
          </a:p>
          <a:p>
            <a:pPr marL="354330" marR="3324225" indent="-342900" algn="l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and NumPy for data manipulation.</a:t>
            </a:r>
          </a:p>
          <a:p>
            <a:pPr marL="12065" marR="3324225" indent="-635" algn="l">
              <a:lnSpc>
                <a:spcPct val="100000"/>
              </a:lnSpc>
              <a:spcBef>
                <a:spcPts val="105"/>
              </a:spcBef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3324225" indent="-635" algn="l">
              <a:lnSpc>
                <a:spcPct val="150000"/>
              </a:lnSpc>
              <a:spcBef>
                <a:spcPts val="105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</a:p>
          <a:p>
            <a:pPr marL="525780" marR="3324225" indent="-514350" algn="l">
              <a:lnSpc>
                <a:spcPct val="150000"/>
              </a:lnSpc>
              <a:spcBef>
                <a:spcPts val="105"/>
              </a:spcBef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inputs content details (Genre, Duration, Rating) via the Web Dashboard.</a:t>
            </a:r>
          </a:p>
          <a:p>
            <a:pPr marL="525780" marR="3324225" indent="-514350" algn="l">
              <a:lnSpc>
                <a:spcPct val="150000"/>
              </a:lnSpc>
              <a:spcBef>
                <a:spcPts val="105"/>
              </a:spcBef>
              <a:buFont typeface="+mj-lt"/>
              <a:buAutoNum type="romanL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receives the request and preprocesses the input data.</a:t>
            </a:r>
          </a:p>
          <a:p>
            <a:pPr marL="525780" marR="3324225" indent="-514350" algn="l">
              <a:lnSpc>
                <a:spcPct val="150000"/>
              </a:lnSpc>
              <a:spcBef>
                <a:spcPts val="105"/>
              </a:spcBef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model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and predicts popularity.</a:t>
            </a:r>
          </a:p>
          <a:p>
            <a:pPr marL="525780" marR="3324225" indent="-514350" algn="l">
              <a:lnSpc>
                <a:spcPct val="150000"/>
              </a:lnSpc>
              <a:spcBef>
                <a:spcPts val="105"/>
              </a:spcBef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returns the prediction result with a confidence score.</a:t>
            </a:r>
          </a:p>
          <a:p>
            <a:pPr marL="525780" marR="3324225" indent="-514350" algn="l">
              <a:lnSpc>
                <a:spcPct val="150000"/>
              </a:lnSpc>
              <a:spcBef>
                <a:spcPts val="105"/>
              </a:spcBef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visualizes the result and displays Feature Impact Analysis.</a:t>
            </a:r>
          </a:p>
        </p:txBody>
      </p:sp>
    </p:spTree>
    <p:extLst>
      <p:ext uri="{BB962C8B-B14F-4D97-AF65-F5344CB8AC3E}">
        <p14:creationId xmlns:p14="http://schemas.microsoft.com/office/powerpoint/2010/main" val="2349320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BAC6C-1653-A212-D8BC-3CC97CCBA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A8E8B69-31B4-59E7-D29C-867C87786C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10173818" cy="539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IN" sz="3600" dirty="0"/>
              <a:t>Analytics &amp; Visualization: Interactive Dashboard</a:t>
            </a:r>
            <a:endParaRPr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59DA1B-CE2B-6AEF-26BB-C7843C349300}"/>
              </a:ext>
            </a:extLst>
          </p:cNvPr>
          <p:cNvSpPr txBox="1"/>
          <p:nvPr/>
        </p:nvSpPr>
        <p:spPr>
          <a:xfrm>
            <a:off x="382419" y="1295400"/>
            <a:ext cx="8686800" cy="4372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065" marR="3324225" indent="-635" algn="l">
              <a:lnSpc>
                <a:spcPct val="100000"/>
              </a:lnSpc>
              <a:spcBef>
                <a:spcPts val="105"/>
              </a:spcBef>
            </a:pPr>
            <a:endParaRPr lang="en-GB" sz="2200" dirty="0">
              <a:latin typeface="Times New Roman"/>
              <a:cs typeface="Times New Roman"/>
            </a:endParaRPr>
          </a:p>
          <a:p>
            <a:pPr marL="354330" marR="3324225" indent="-342900" algn="l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Instant popularity forecasting with confidence scores and probability metrics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4330" marR="3324225" indent="-342900" algn="l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Impact Analysis: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 visualization showing key drivers like Genres (31.1%) and Content Type (28.6%)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4330" marR="3324225" indent="-342900" algn="l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Distribution: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Comparative charts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proportion of Movies vs. TV Shows in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4330" marR="3324225" indent="-342900" algn="l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Trends: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line graphs tracking content addition patterns and growth over years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4330" marR="3324225" indent="-342900" algn="l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Exploration: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Detailed interface for examining underlying content statistics and metadata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C47B03-3E2A-1AA1-E329-A40829F80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1828800"/>
            <a:ext cx="6135571" cy="357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6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1A6AA9-5E30-0D18-4928-A8181124E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C9ECD1F-1B32-4E48-9736-A1BC9A323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22480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042549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283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EF287C-C2F3-1EC5-A2BA-DA99C071B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086"/>
          <a:stretch>
            <a:fillRect/>
          </a:stretch>
        </p:blipFill>
        <p:spPr>
          <a:xfrm>
            <a:off x="7831321" y="947467"/>
            <a:ext cx="3721608" cy="2542032"/>
          </a:xfrm>
          <a:prstGeom prst="rect">
            <a:avLst/>
          </a:prstGeom>
        </p:spPr>
      </p:pic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452F2A-3E88-1793-9DB1-DC058144E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" r="14713"/>
          <a:stretch>
            <a:fillRect/>
          </a:stretch>
        </p:blipFill>
        <p:spPr>
          <a:xfrm>
            <a:off x="4054251" y="947467"/>
            <a:ext cx="3719192" cy="2542032"/>
          </a:xfrm>
          <a:prstGeom prst="rect">
            <a:avLst/>
          </a:prstGeom>
        </p:spPr>
      </p:pic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DFE7CF-2905-1086-41E0-AA64F712F2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20"/>
          <a:stretch>
            <a:fillRect/>
          </a:stretch>
        </p:blipFill>
        <p:spPr>
          <a:xfrm>
            <a:off x="4054251" y="3548348"/>
            <a:ext cx="3721608" cy="2542032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4E5C6B-AE1C-698E-AF5C-3C840BDFAB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9" r="11217"/>
          <a:stretch>
            <a:fillRect/>
          </a:stretch>
        </p:blipFill>
        <p:spPr>
          <a:xfrm>
            <a:off x="7831321" y="3548348"/>
            <a:ext cx="3719192" cy="254203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96108FE-B3A3-7D3D-DA30-2F71AF335566}"/>
              </a:ext>
            </a:extLst>
          </p:cNvPr>
          <p:cNvSpPr txBox="1"/>
          <p:nvPr/>
        </p:nvSpPr>
        <p:spPr>
          <a:xfrm>
            <a:off x="616067" y="3009996"/>
            <a:ext cx="220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E8ABE8-8E2D-E2BB-AC80-213CE5D27D18}"/>
              </a:ext>
            </a:extLst>
          </p:cNvPr>
          <p:cNvSpPr txBox="1"/>
          <p:nvPr/>
        </p:nvSpPr>
        <p:spPr>
          <a:xfrm>
            <a:off x="5334000" y="479641"/>
            <a:ext cx="1813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Predictor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D1AEC3-595E-56B6-5E41-A149E293C2D0}"/>
              </a:ext>
            </a:extLst>
          </p:cNvPr>
          <p:cNvSpPr txBox="1"/>
          <p:nvPr/>
        </p:nvSpPr>
        <p:spPr>
          <a:xfrm>
            <a:off x="9321234" y="479641"/>
            <a:ext cx="1813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Dataset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2CA100-22E8-B402-9D84-C4F9FE8DC72C}"/>
              </a:ext>
            </a:extLst>
          </p:cNvPr>
          <p:cNvSpPr txBox="1"/>
          <p:nvPr/>
        </p:nvSpPr>
        <p:spPr>
          <a:xfrm>
            <a:off x="5007272" y="6404600"/>
            <a:ext cx="1813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Website Details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2B4B90-DD42-45F2-4979-39559E262FB7}"/>
              </a:ext>
            </a:extLst>
          </p:cNvPr>
          <p:cNvSpPr txBox="1"/>
          <p:nvPr/>
        </p:nvSpPr>
        <p:spPr>
          <a:xfrm>
            <a:off x="9321234" y="6425653"/>
            <a:ext cx="1813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Analytics</a:t>
            </a:r>
          </a:p>
        </p:txBody>
      </p:sp>
    </p:spTree>
    <p:extLst>
      <p:ext uri="{BB962C8B-B14F-4D97-AF65-F5344CB8AC3E}">
        <p14:creationId xmlns:p14="http://schemas.microsoft.com/office/powerpoint/2010/main" val="117656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2BB6BD7-FA7C-8702-70A4-2E703EAE3107}"/>
              </a:ext>
            </a:extLst>
          </p:cNvPr>
          <p:cNvSpPr txBox="1">
            <a:spLocks/>
          </p:cNvSpPr>
          <p:nvPr/>
        </p:nvSpPr>
        <p:spPr>
          <a:xfrm>
            <a:off x="533400" y="381000"/>
            <a:ext cx="10173818" cy="539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4095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5B8BFC-8DF0-D817-CF62-57172C308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214021"/>
            <a:ext cx="114300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Bridging Theory &amp; Practice: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bridged theoretical data science concepts with real-world business applications through end-to-end implementation.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Success: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Delivered a robust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prediction model achieving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90.6% 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validating the effectiveness of the chosen algorithms.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Transformed raw historical data into actionable insights, identifying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Genres (31.1%)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Type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the primary drivers of popularity.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Proved that complex machine learning models can be made accessible to non-technical stakeholders through intuitive web dashboards.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framework is scalable for enterprise analytics and can be adapted for other streaming platforms or real-time content strategies.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F52AB-46EC-4710-9771-BE0DCF81F3DF}"/>
              </a:ext>
            </a:extLst>
          </p:cNvPr>
          <p:cNvSpPr txBox="1"/>
          <p:nvPr/>
        </p:nvSpPr>
        <p:spPr>
          <a:xfrm>
            <a:off x="2095500" y="2536448"/>
            <a:ext cx="80010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0" dirty="0">
                <a:latin typeface="Jumble" panose="02000503000000020004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11940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</TotalTime>
  <Words>796</Words>
  <Application>Microsoft Macintosh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MT</vt:lpstr>
      <vt:lpstr>Calibri</vt:lpstr>
      <vt:lpstr>Jumble</vt:lpstr>
      <vt:lpstr>Times New Roman</vt:lpstr>
      <vt:lpstr>Office Theme</vt:lpstr>
      <vt:lpstr>PowerPoint Presentation</vt:lpstr>
      <vt:lpstr>PowerPoint Presentation</vt:lpstr>
      <vt:lpstr>About the organizations</vt:lpstr>
      <vt:lpstr>Course Layout</vt:lpstr>
      <vt:lpstr>Course Outcomes</vt:lpstr>
      <vt:lpstr>Capstone Project: Netflix Popularity Predictor</vt:lpstr>
      <vt:lpstr>Project Architecture &amp; Implementation</vt:lpstr>
      <vt:lpstr>Analytics &amp; Visualization: Interactive Dashboard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Param Gholap</dc:creator>
  <cp:lastModifiedBy>Sasi Vakul Rithwik Sekharamanthri</cp:lastModifiedBy>
  <cp:revision>8</cp:revision>
  <dcterms:created xsi:type="dcterms:W3CDTF">2025-11-21T05:20:39Z</dcterms:created>
  <dcterms:modified xsi:type="dcterms:W3CDTF">2025-11-21T12:36:21Z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2025-11-20T00:00:00Z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2025-11-21T00:00:00Z</vt:filetime>
  </property>
  <property fmtid="{D5CDD505-2E9C-101B-9397-08002B2CF9AE}" pid="5" name="Producer">
    <vt:lpwstr>Microsoft® PowerPoint® 2021</vt:lpwstr>
  </property>
</Properties>
</file>